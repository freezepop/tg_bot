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18288000" cy="10287000"/>
  <p:notesSz cx="18288000" cy="10287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4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69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1047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9771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5883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7660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5018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632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72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15003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4959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569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599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5238750" cy="10287000"/>
          </a:xfrm>
          <a:custGeom>
            <a:avLst/>
            <a:gdLst/>
            <a:ahLst/>
            <a:cxnLst/>
            <a:rect l="l" t="t" r="r" b="b"/>
            <a:pathLst>
              <a:path w="5238750" h="10287000">
                <a:moveTo>
                  <a:pt x="0" y="0"/>
                </a:moveTo>
                <a:lnTo>
                  <a:pt x="5238230" y="0"/>
                </a:lnTo>
                <a:lnTo>
                  <a:pt x="523823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F68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238230" y="0"/>
            <a:ext cx="13049885" cy="10287000"/>
          </a:xfrm>
          <a:custGeom>
            <a:avLst/>
            <a:gdLst/>
            <a:ahLst/>
            <a:cxnLst/>
            <a:rect l="l" t="t" r="r" b="b"/>
            <a:pathLst>
              <a:path w="13049885" h="10287000">
                <a:moveTo>
                  <a:pt x="0" y="0"/>
                </a:moveTo>
                <a:lnTo>
                  <a:pt x="13049767" y="0"/>
                </a:lnTo>
                <a:lnTo>
                  <a:pt x="13049767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238231" y="0"/>
            <a:ext cx="13049767" cy="10286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2500" y="3400425"/>
            <a:ext cx="7699375" cy="5967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810750" y="3400425"/>
            <a:ext cx="7699375" cy="5967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81000" y="2828925"/>
            <a:ext cx="8667750" cy="7077075"/>
          </a:xfrm>
          <a:custGeom>
            <a:avLst/>
            <a:gdLst/>
            <a:ahLst/>
            <a:cxnLst/>
            <a:rect l="l" t="t" r="r" b="b"/>
            <a:pathLst>
              <a:path w="8667750" h="7077075">
                <a:moveTo>
                  <a:pt x="0" y="0"/>
                </a:moveTo>
                <a:lnTo>
                  <a:pt x="8667749" y="0"/>
                </a:lnTo>
                <a:lnTo>
                  <a:pt x="8667749" y="7077074"/>
                </a:lnTo>
                <a:lnTo>
                  <a:pt x="0" y="7077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81000" y="2828925"/>
            <a:ext cx="8667749" cy="70770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9239250" y="2828925"/>
            <a:ext cx="8667750" cy="7077075"/>
          </a:xfrm>
          <a:custGeom>
            <a:avLst/>
            <a:gdLst/>
            <a:ahLst/>
            <a:cxnLst/>
            <a:rect l="l" t="t" r="r" b="b"/>
            <a:pathLst>
              <a:path w="8667750" h="7077075">
                <a:moveTo>
                  <a:pt x="0" y="0"/>
                </a:moveTo>
                <a:lnTo>
                  <a:pt x="8667749" y="0"/>
                </a:lnTo>
                <a:lnTo>
                  <a:pt x="8667749" y="7077074"/>
                </a:lnTo>
                <a:lnTo>
                  <a:pt x="0" y="7077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9239250" y="2828925"/>
            <a:ext cx="8667749" cy="7077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8375" y="1008327"/>
            <a:ext cx="16351250" cy="1808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2500" y="2911924"/>
            <a:ext cx="16383000" cy="3347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5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00" y="3432588"/>
            <a:ext cx="7124700" cy="904875"/>
          </a:xfrm>
          <a:custGeom>
            <a:avLst/>
            <a:gdLst/>
            <a:ahLst/>
            <a:cxnLst/>
            <a:rect l="l" t="t" r="r" b="b"/>
            <a:pathLst>
              <a:path w="7124700" h="904875">
                <a:moveTo>
                  <a:pt x="0" y="0"/>
                </a:moveTo>
                <a:lnTo>
                  <a:pt x="7124699" y="0"/>
                </a:lnTo>
                <a:lnTo>
                  <a:pt x="7124699" y="904799"/>
                </a:lnTo>
                <a:lnTo>
                  <a:pt x="0" y="9047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500" y="952500"/>
            <a:ext cx="10908030" cy="772160"/>
          </a:xfrm>
          <a:custGeom>
            <a:avLst/>
            <a:gdLst/>
            <a:ahLst/>
            <a:cxnLst/>
            <a:rect l="l" t="t" r="r" b="b"/>
            <a:pathLst>
              <a:path w="10908030" h="772160">
                <a:moveTo>
                  <a:pt x="0" y="0"/>
                </a:moveTo>
                <a:lnTo>
                  <a:pt x="10907699" y="0"/>
                </a:lnTo>
                <a:lnTo>
                  <a:pt x="10907699" y="771599"/>
                </a:lnTo>
                <a:lnTo>
                  <a:pt x="0" y="7715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5618" y="9004824"/>
            <a:ext cx="3115310" cy="772160"/>
          </a:xfrm>
          <a:custGeom>
            <a:avLst/>
            <a:gdLst/>
            <a:ahLst/>
            <a:cxnLst/>
            <a:rect l="l" t="t" r="r" b="b"/>
            <a:pathLst>
              <a:path w="3115310" h="772159">
                <a:moveTo>
                  <a:pt x="0" y="0"/>
                </a:moveTo>
                <a:lnTo>
                  <a:pt x="3114951" y="0"/>
                </a:lnTo>
                <a:lnTo>
                  <a:pt x="3114951" y="771599"/>
                </a:lnTo>
                <a:lnTo>
                  <a:pt x="0" y="7715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5618" y="9004825"/>
            <a:ext cx="3114951" cy="77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4625113"/>
            <a:ext cx="7648575" cy="2229485"/>
          </a:xfrm>
          <a:custGeom>
            <a:avLst/>
            <a:gdLst/>
            <a:ahLst/>
            <a:cxnLst/>
            <a:rect l="l" t="t" r="r" b="b"/>
            <a:pathLst>
              <a:path w="7648575" h="2229484">
                <a:moveTo>
                  <a:pt x="0" y="0"/>
                </a:moveTo>
                <a:lnTo>
                  <a:pt x="7648499" y="0"/>
                </a:lnTo>
                <a:lnTo>
                  <a:pt x="7648499" y="2229300"/>
                </a:lnTo>
                <a:lnTo>
                  <a:pt x="0" y="2229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68375" y="3527475"/>
            <a:ext cx="6483350" cy="2708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3750" spc="475" dirty="0" smtClean="0">
                <a:solidFill>
                  <a:srgbClr val="FFFFFF"/>
                </a:solidFill>
                <a:cs typeface="Calibri"/>
              </a:rPr>
              <a:t>команда </a:t>
            </a:r>
            <a:r>
              <a:rPr lang="ru-RU" sz="3750" spc="475" dirty="0">
                <a:solidFill>
                  <a:srgbClr val="FFFFFF"/>
                </a:solidFill>
                <a:cs typeface="Calibri"/>
              </a:rPr>
              <a:t>34 - "По и Бит"</a:t>
            </a:r>
            <a:endParaRPr sz="3750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425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ru-RU" sz="3000" spc="380" dirty="0" smtClean="0">
                <a:solidFill>
                  <a:srgbClr val="FFFFFF"/>
                </a:solidFill>
                <a:latin typeface="Calibri"/>
                <a:cs typeface="Calibri"/>
              </a:rPr>
              <a:t>Задача </a:t>
            </a:r>
            <a:r>
              <a:rPr lang="ru-RU" sz="3200" spc="475" dirty="0" smtClean="0">
                <a:solidFill>
                  <a:srgbClr val="FFFFFF"/>
                </a:solidFill>
                <a:cs typeface="Calibri"/>
              </a:rPr>
              <a:t>"</a:t>
            </a:r>
            <a:r>
              <a:rPr lang="en-US" sz="3000" spc="380" dirty="0" err="1" smtClean="0">
                <a:solidFill>
                  <a:srgbClr val="FFFFFF"/>
                </a:solidFill>
                <a:cs typeface="Calibri"/>
              </a:rPr>
              <a:t>BotCreators</a:t>
            </a:r>
            <a:r>
              <a:rPr lang="ru-RU" sz="3200" spc="475" dirty="0" smtClean="0">
                <a:solidFill>
                  <a:srgbClr val="FFFFFF"/>
                </a:solidFill>
                <a:cs typeface="Calibri"/>
              </a:rPr>
              <a:t>"</a:t>
            </a:r>
            <a:r>
              <a:rPr lang="ru-RU" sz="3200" spc="475" dirty="0" smtClean="0">
                <a:solidFill>
                  <a:srgbClr val="FFFFFF"/>
                </a:solidFill>
                <a:cs typeface="Calibri"/>
              </a:rPr>
              <a:t/>
            </a:r>
            <a:br>
              <a:rPr lang="ru-RU" sz="3200" spc="475" dirty="0" smtClean="0">
                <a:solidFill>
                  <a:srgbClr val="FFFFFF"/>
                </a:solidFill>
                <a:cs typeface="Calibri"/>
              </a:rPr>
            </a:br>
            <a:r>
              <a:rPr lang="ru-RU" sz="3200" spc="475" dirty="0" smtClean="0">
                <a:solidFill>
                  <a:srgbClr val="FFFFFF"/>
                </a:solidFill>
                <a:cs typeface="Calibri"/>
              </a:rPr>
              <a:t/>
            </a:r>
            <a:br>
              <a:rPr lang="ru-RU" sz="3200" spc="475" dirty="0" smtClean="0">
                <a:solidFill>
                  <a:srgbClr val="FFFFFF"/>
                </a:solidFill>
                <a:cs typeface="Calibri"/>
              </a:rPr>
            </a:br>
            <a:r>
              <a:rPr lang="ru-RU" sz="3200" spc="475" dirty="0" smtClean="0">
                <a:solidFill>
                  <a:srgbClr val="FFFFFF"/>
                </a:solidFill>
                <a:cs typeface="Calibri"/>
              </a:rPr>
              <a:t>Дата защиты</a:t>
            </a:r>
            <a:r>
              <a:rPr lang="en-US" sz="3200" spc="475" dirty="0" smtClean="0">
                <a:solidFill>
                  <a:srgbClr val="FFFFFF"/>
                </a:solidFill>
                <a:cs typeface="Calibri"/>
              </a:rPr>
              <a:t>: 23.12.2025</a:t>
            </a:r>
            <a:endParaRPr lang="ru-RU" sz="3200" dirty="0"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68375" y="1008327"/>
            <a:ext cx="16351250" cy="1466069"/>
          </a:xfrm>
          <a:prstGeom prst="rect">
            <a:avLst/>
          </a:prstGeom>
        </p:spPr>
        <p:txBody>
          <a:bodyPr vert="horz" wrap="square" lIns="0" tIns="14125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105" dirty="0" err="1"/>
              <a:t>Х</a:t>
            </a:r>
            <a:r>
              <a:rPr spc="1025" dirty="0" err="1"/>
              <a:t>а</a:t>
            </a:r>
            <a:r>
              <a:rPr spc="905" dirty="0" err="1"/>
              <a:t>ка</a:t>
            </a:r>
            <a:r>
              <a:rPr spc="705" dirty="0" err="1"/>
              <a:t>т</a:t>
            </a:r>
            <a:r>
              <a:rPr spc="1095" dirty="0" err="1"/>
              <a:t>он</a:t>
            </a:r>
            <a:r>
              <a:rPr spc="365" dirty="0"/>
              <a:t> </a:t>
            </a:r>
            <a:r>
              <a:rPr spc="1085" dirty="0" smtClean="0"/>
              <a:t>MIFID</a:t>
            </a:r>
            <a:r>
              <a:rPr spc="1000" dirty="0" smtClean="0"/>
              <a:t>E</a:t>
            </a:r>
            <a:r>
              <a:rPr spc="1025" dirty="0" smtClean="0"/>
              <a:t>V</a:t>
            </a:r>
            <a:r>
              <a:rPr spc="500" dirty="0" smtClean="0"/>
              <a:t>-</a:t>
            </a:r>
            <a:r>
              <a:rPr lang="en-US" spc="-1225" dirty="0" smtClean="0"/>
              <a:t>3</a:t>
            </a:r>
            <a:endParaRPr spc="-12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90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7999" y="0"/>
                </a:lnTo>
                <a:lnTo>
                  <a:pt x="182879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043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500" y="3886200"/>
            <a:ext cx="5334000" cy="2628900"/>
          </a:xfrm>
          <a:custGeom>
            <a:avLst/>
            <a:gdLst/>
            <a:ahLst/>
            <a:cxnLst/>
            <a:rect l="l" t="t" r="r" b="b"/>
            <a:pathLst>
              <a:path w="5334000" h="2628900">
                <a:moveTo>
                  <a:pt x="0" y="0"/>
                </a:moveTo>
                <a:lnTo>
                  <a:pt x="5333999" y="0"/>
                </a:lnTo>
                <a:lnTo>
                  <a:pt x="5333999" y="2628899"/>
                </a:lnTo>
                <a:lnTo>
                  <a:pt x="0" y="26288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8375" y="3886200"/>
            <a:ext cx="5333999" cy="2628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0" y="3886200"/>
            <a:ext cx="5334000" cy="2628900"/>
          </a:xfrm>
          <a:custGeom>
            <a:avLst/>
            <a:gdLst/>
            <a:ahLst/>
            <a:cxnLst/>
            <a:rect l="l" t="t" r="r" b="b"/>
            <a:pathLst>
              <a:path w="5334000" h="2628900">
                <a:moveTo>
                  <a:pt x="0" y="0"/>
                </a:moveTo>
                <a:lnTo>
                  <a:pt x="5333999" y="0"/>
                </a:lnTo>
                <a:lnTo>
                  <a:pt x="5333999" y="2628899"/>
                </a:lnTo>
                <a:lnTo>
                  <a:pt x="0" y="26288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77000" y="3886200"/>
            <a:ext cx="5333999" cy="2628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2500" y="952500"/>
            <a:ext cx="16402685" cy="772160"/>
          </a:xfrm>
          <a:custGeom>
            <a:avLst/>
            <a:gdLst/>
            <a:ahLst/>
            <a:cxnLst/>
            <a:rect l="l" t="t" r="r" b="b"/>
            <a:pathLst>
              <a:path w="16402685" h="772160">
                <a:moveTo>
                  <a:pt x="0" y="0"/>
                </a:moveTo>
                <a:lnTo>
                  <a:pt x="16402199" y="0"/>
                </a:lnTo>
                <a:lnTo>
                  <a:pt x="16402199" y="771599"/>
                </a:lnTo>
                <a:lnTo>
                  <a:pt x="0" y="7715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68375" y="1008327"/>
            <a:ext cx="1635125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7200" dirty="0"/>
              <a:t>Цель проекта</a:t>
            </a:r>
            <a:endParaRPr sz="6750" dirty="0"/>
          </a:p>
        </p:txBody>
      </p:sp>
      <p:sp>
        <p:nvSpPr>
          <p:cNvPr id="12" name="object 12"/>
          <p:cNvSpPr txBox="1"/>
          <p:nvPr/>
        </p:nvSpPr>
        <p:spPr>
          <a:xfrm>
            <a:off x="1158875" y="4139982"/>
            <a:ext cx="242443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2400" dirty="0" smtClean="0"/>
              <a:t>Быстро анализировать экспорт чатов Telegram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68470" y="4107433"/>
            <a:ext cx="2393315" cy="2186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lang="ru-RU" sz="2400" dirty="0" smtClean="0"/>
              <a:t>Получать информацию об участниках, упоминаниях и каналах</a:t>
            </a:r>
            <a:endParaRPr sz="225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2001500" y="3886200"/>
            <a:ext cx="5334000" cy="2628900"/>
          </a:xfrm>
          <a:custGeom>
            <a:avLst/>
            <a:gdLst/>
            <a:ahLst/>
            <a:cxnLst/>
            <a:rect l="l" t="t" r="r" b="b"/>
            <a:pathLst>
              <a:path w="5334000" h="2628900">
                <a:moveTo>
                  <a:pt x="0" y="0"/>
                </a:moveTo>
                <a:lnTo>
                  <a:pt x="5333999" y="0"/>
                </a:lnTo>
                <a:lnTo>
                  <a:pt x="5333999" y="2628899"/>
                </a:lnTo>
                <a:lnTo>
                  <a:pt x="0" y="26288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985625" y="3886200"/>
            <a:ext cx="5333999" cy="26288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 txBox="1"/>
          <p:nvPr/>
        </p:nvSpPr>
        <p:spPr>
          <a:xfrm>
            <a:off x="1163637" y="7782342"/>
            <a:ext cx="3477260" cy="722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2250" spc="270" dirty="0">
                <a:solidFill>
                  <a:srgbClr val="043833"/>
                </a:solidFill>
                <a:latin typeface="Calibri"/>
                <a:cs typeface="Calibri"/>
              </a:rPr>
              <a:t>с</a:t>
            </a:r>
            <a:r>
              <a:rPr sz="2250" spc="229" dirty="0">
                <a:solidFill>
                  <a:srgbClr val="043833"/>
                </a:solidFill>
                <a:latin typeface="Calibri"/>
                <a:cs typeface="Calibri"/>
              </a:rPr>
              <a:t>дача</a:t>
            </a:r>
            <a:r>
              <a:rPr sz="2250" spc="80" dirty="0">
                <a:solidFill>
                  <a:srgbClr val="043833"/>
                </a:solidFill>
                <a:latin typeface="Calibri"/>
                <a:cs typeface="Calibri"/>
              </a:rPr>
              <a:t> </a:t>
            </a:r>
            <a:r>
              <a:rPr sz="2250" spc="300" dirty="0">
                <a:solidFill>
                  <a:srgbClr val="043833"/>
                </a:solidFill>
                <a:latin typeface="Calibri"/>
                <a:cs typeface="Calibri"/>
              </a:rPr>
              <a:t>и</a:t>
            </a:r>
            <a:r>
              <a:rPr sz="2250" spc="160" dirty="0">
                <a:solidFill>
                  <a:srgbClr val="043833"/>
                </a:solidFill>
                <a:latin typeface="Calibri"/>
                <a:cs typeface="Calibri"/>
              </a:rPr>
              <a:t>т</a:t>
            </a:r>
            <a:r>
              <a:rPr sz="2250" spc="320" dirty="0">
                <a:solidFill>
                  <a:srgbClr val="043833"/>
                </a:solidFill>
                <a:latin typeface="Calibri"/>
                <a:cs typeface="Calibri"/>
              </a:rPr>
              <a:t>о</a:t>
            </a:r>
            <a:r>
              <a:rPr sz="2250" spc="155" dirty="0">
                <a:solidFill>
                  <a:srgbClr val="043833"/>
                </a:solidFill>
                <a:latin typeface="Calibri"/>
                <a:cs typeface="Calibri"/>
              </a:rPr>
              <a:t>г</a:t>
            </a:r>
            <a:r>
              <a:rPr sz="2250" spc="265" dirty="0">
                <a:solidFill>
                  <a:srgbClr val="043833"/>
                </a:solidFill>
                <a:latin typeface="Calibri"/>
                <a:cs typeface="Calibri"/>
              </a:rPr>
              <a:t>овой</a:t>
            </a:r>
            <a:r>
              <a:rPr sz="2250" spc="80" dirty="0">
                <a:solidFill>
                  <a:srgbClr val="043833"/>
                </a:solidFill>
                <a:latin typeface="Calibri"/>
                <a:cs typeface="Calibri"/>
              </a:rPr>
              <a:t> </a:t>
            </a:r>
            <a:r>
              <a:rPr sz="2250" spc="345" dirty="0">
                <a:solidFill>
                  <a:srgbClr val="043833"/>
                </a:solidFill>
                <a:latin typeface="Calibri"/>
                <a:cs typeface="Calibri"/>
              </a:rPr>
              <a:t>р</a:t>
            </a:r>
            <a:r>
              <a:rPr sz="2250" spc="250" dirty="0">
                <a:solidFill>
                  <a:srgbClr val="043833"/>
                </a:solidFill>
                <a:latin typeface="Calibri"/>
                <a:cs typeface="Calibri"/>
              </a:rPr>
              <a:t>аб</a:t>
            </a:r>
            <a:r>
              <a:rPr sz="2250" spc="215" dirty="0">
                <a:solidFill>
                  <a:srgbClr val="043833"/>
                </a:solidFill>
                <a:latin typeface="Calibri"/>
                <a:cs typeface="Calibri"/>
              </a:rPr>
              <a:t>о</a:t>
            </a:r>
            <a:r>
              <a:rPr sz="2250" spc="225" dirty="0">
                <a:solidFill>
                  <a:srgbClr val="043833"/>
                </a:solidFill>
                <a:latin typeface="Calibri"/>
                <a:cs typeface="Calibri"/>
              </a:rPr>
              <a:t>ты</a:t>
            </a:r>
            <a:r>
              <a:rPr sz="2250" spc="95" dirty="0">
                <a:solidFill>
                  <a:srgbClr val="043833"/>
                </a:solidFill>
                <a:latin typeface="Calibri"/>
                <a:cs typeface="Calibri"/>
              </a:rPr>
              <a:t> </a:t>
            </a:r>
            <a:r>
              <a:rPr sz="2250" spc="325" dirty="0">
                <a:solidFill>
                  <a:srgbClr val="043833"/>
                </a:solidFill>
                <a:latin typeface="Calibri"/>
                <a:cs typeface="Calibri"/>
              </a:rPr>
              <a:t>и</a:t>
            </a:r>
            <a:r>
              <a:rPr sz="2250" spc="80" dirty="0">
                <a:solidFill>
                  <a:srgbClr val="043833"/>
                </a:solidFill>
                <a:latin typeface="Calibri"/>
                <a:cs typeface="Calibri"/>
              </a:rPr>
              <a:t> </a:t>
            </a:r>
            <a:r>
              <a:rPr sz="2250" spc="265" dirty="0">
                <a:solidFill>
                  <a:srgbClr val="043833"/>
                </a:solidFill>
                <a:latin typeface="Calibri"/>
                <a:cs typeface="Calibri"/>
              </a:rPr>
              <a:t>до</a:t>
            </a:r>
            <a:r>
              <a:rPr sz="2250" spc="250" dirty="0">
                <a:solidFill>
                  <a:srgbClr val="043833"/>
                </a:solidFill>
                <a:latin typeface="Calibri"/>
                <a:cs typeface="Calibri"/>
              </a:rPr>
              <a:t>раб</a:t>
            </a:r>
            <a:r>
              <a:rPr sz="2250" spc="215" dirty="0">
                <a:solidFill>
                  <a:srgbClr val="043833"/>
                </a:solidFill>
                <a:latin typeface="Calibri"/>
                <a:cs typeface="Calibri"/>
              </a:rPr>
              <a:t>о</a:t>
            </a:r>
            <a:r>
              <a:rPr sz="2250" spc="200" dirty="0">
                <a:solidFill>
                  <a:srgbClr val="043833"/>
                </a:solidFill>
                <a:latin typeface="Calibri"/>
                <a:cs typeface="Calibri"/>
              </a:rPr>
              <a:t>т</a:t>
            </a:r>
            <a:r>
              <a:rPr sz="2250" spc="215" dirty="0">
                <a:solidFill>
                  <a:srgbClr val="043833"/>
                </a:solidFill>
                <a:latin typeface="Calibri"/>
                <a:cs typeface="Calibri"/>
              </a:rPr>
              <a:t>к</a:t>
            </a:r>
            <a:r>
              <a:rPr sz="2250" spc="225" dirty="0">
                <a:solidFill>
                  <a:srgbClr val="043833"/>
                </a:solidFill>
                <a:latin typeface="Calibri"/>
                <a:cs typeface="Calibri"/>
              </a:rPr>
              <a:t>а</a:t>
            </a:r>
            <a:r>
              <a:rPr sz="2250" spc="80" dirty="0">
                <a:solidFill>
                  <a:srgbClr val="043833"/>
                </a:solidFill>
                <a:latin typeface="Calibri"/>
                <a:cs typeface="Calibri"/>
              </a:rPr>
              <a:t> </a:t>
            </a:r>
            <a:r>
              <a:rPr sz="2250" spc="245" dirty="0">
                <a:solidFill>
                  <a:srgbClr val="043833"/>
                </a:solidFill>
                <a:latin typeface="Calibri"/>
                <a:cs typeface="Calibri"/>
              </a:rPr>
              <a:t>ма</a:t>
            </a:r>
            <a:r>
              <a:rPr sz="2250" spc="110" dirty="0">
                <a:solidFill>
                  <a:srgbClr val="043833"/>
                </a:solidFill>
                <a:latin typeface="Calibri"/>
                <a:cs typeface="Calibri"/>
              </a:rPr>
              <a:t>т</a:t>
            </a:r>
            <a:r>
              <a:rPr sz="2250" spc="285" dirty="0">
                <a:solidFill>
                  <a:srgbClr val="043833"/>
                </a:solidFill>
                <a:latin typeface="Calibri"/>
                <a:cs typeface="Calibri"/>
              </a:rPr>
              <a:t>ериал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18755" y="7454265"/>
            <a:ext cx="1629410" cy="1880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250" spc="260" dirty="0">
                <a:solidFill>
                  <a:srgbClr val="043833"/>
                </a:solidFill>
                <a:latin typeface="Calibri"/>
                <a:cs typeface="Calibri"/>
              </a:rPr>
              <a:t>ов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112394" y="4634865"/>
            <a:ext cx="968375" cy="1880235"/>
          </a:xfrm>
          <a:custGeom>
            <a:avLst/>
            <a:gdLst/>
            <a:ahLst/>
            <a:cxnLst/>
            <a:rect l="l" t="t" r="r" b="b"/>
            <a:pathLst>
              <a:path w="968375" h="1880234">
                <a:moveTo>
                  <a:pt x="0" y="0"/>
                </a:moveTo>
                <a:lnTo>
                  <a:pt x="968120" y="0"/>
                </a:lnTo>
                <a:lnTo>
                  <a:pt x="968120" y="1880235"/>
                </a:lnTo>
                <a:lnTo>
                  <a:pt x="0" y="188023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112395" y="4634866"/>
            <a:ext cx="968120" cy="18802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0186367" y="4605527"/>
            <a:ext cx="1496695" cy="1910080"/>
          </a:xfrm>
          <a:custGeom>
            <a:avLst/>
            <a:gdLst/>
            <a:ahLst/>
            <a:cxnLst/>
            <a:rect l="l" t="t" r="r" b="b"/>
            <a:pathLst>
              <a:path w="1496695" h="1910079">
                <a:moveTo>
                  <a:pt x="0" y="0"/>
                </a:moveTo>
                <a:lnTo>
                  <a:pt x="1496186" y="0"/>
                </a:lnTo>
                <a:lnTo>
                  <a:pt x="1496186" y="1909571"/>
                </a:lnTo>
                <a:lnTo>
                  <a:pt x="0" y="190957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0170493" y="4605528"/>
            <a:ext cx="1496186" cy="19095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677336" y="4605528"/>
            <a:ext cx="1498851" cy="19389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5"/>
          <p:cNvSpPr txBox="1"/>
          <p:nvPr/>
        </p:nvSpPr>
        <p:spPr>
          <a:xfrm>
            <a:off x="12489637" y="4050284"/>
            <a:ext cx="2393315" cy="85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lang="ru-RU" sz="2400" dirty="0" smtClean="0"/>
              <a:t>Обогащать данные через </a:t>
            </a:r>
            <a:r>
              <a:rPr lang="en-US" sz="2400" dirty="0" smtClean="0"/>
              <a:t>API</a:t>
            </a:r>
            <a:endParaRPr sz="22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500" y="2826299"/>
            <a:ext cx="13245465" cy="6508750"/>
          </a:xfrm>
          <a:custGeom>
            <a:avLst/>
            <a:gdLst/>
            <a:ahLst/>
            <a:cxnLst/>
            <a:rect l="l" t="t" r="r" b="b"/>
            <a:pathLst>
              <a:path w="13245465" h="6508750">
                <a:moveTo>
                  <a:pt x="0" y="0"/>
                </a:moveTo>
                <a:lnTo>
                  <a:pt x="13245174" y="0"/>
                </a:lnTo>
                <a:lnTo>
                  <a:pt x="13245174" y="6508199"/>
                </a:lnTo>
                <a:lnTo>
                  <a:pt x="0" y="65081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2500" y="2826300"/>
            <a:ext cx="13245174" cy="6508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52500" y="952500"/>
            <a:ext cx="15335250" cy="771525"/>
          </a:xfrm>
          <a:custGeom>
            <a:avLst/>
            <a:gdLst/>
            <a:ahLst/>
            <a:cxnLst/>
            <a:rect l="l" t="t" r="r" b="b"/>
            <a:pathLst>
              <a:path w="15335250" h="771525">
                <a:moveTo>
                  <a:pt x="0" y="0"/>
                </a:moveTo>
                <a:lnTo>
                  <a:pt x="15335249" y="0"/>
                </a:lnTo>
                <a:lnTo>
                  <a:pt x="15335249" y="771524"/>
                </a:lnTo>
                <a:lnTo>
                  <a:pt x="0" y="7715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8375" y="1008327"/>
            <a:ext cx="16351250" cy="11079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7200" dirty="0">
                <a:solidFill>
                  <a:srgbClr val="043833"/>
                </a:solidFill>
              </a:rPr>
              <a:t>Проблема и бизнес-ценность</a:t>
            </a:r>
            <a:endParaRPr sz="6750" dirty="0">
              <a:solidFill>
                <a:srgbClr val="043833"/>
              </a:solidFill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2424" y="2826299"/>
            <a:ext cx="12402820" cy="3810000"/>
          </a:xfrm>
          <a:custGeom>
            <a:avLst/>
            <a:gdLst/>
            <a:ahLst/>
            <a:cxnLst/>
            <a:rect l="l" t="t" r="r" b="b"/>
            <a:pathLst>
              <a:path w="12402819" h="3810000">
                <a:moveTo>
                  <a:pt x="0" y="0"/>
                </a:moveTo>
                <a:lnTo>
                  <a:pt x="12402299" y="0"/>
                </a:lnTo>
                <a:lnTo>
                  <a:pt x="12402299" y="3809999"/>
                </a:lnTo>
                <a:lnTo>
                  <a:pt x="0" y="38099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05910" y="3457835"/>
            <a:ext cx="12221210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4165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rgbClr val="043833"/>
                </a:solidFill>
              </a:rPr>
              <a:t>Ручной анализ чатов трудоёмкий</a:t>
            </a:r>
            <a:r>
              <a:rPr lang="en-US" sz="3200" dirty="0" smtClean="0">
                <a:solidFill>
                  <a:srgbClr val="043833"/>
                </a:solidFill>
              </a:rPr>
              <a:t/>
            </a:r>
            <a:br>
              <a:rPr lang="en-US" sz="3200" dirty="0" smtClean="0">
                <a:solidFill>
                  <a:srgbClr val="043833"/>
                </a:solidFill>
              </a:rPr>
            </a:br>
            <a:endParaRPr lang="en-US" sz="3200" dirty="0" smtClean="0">
              <a:solidFill>
                <a:srgbClr val="043833"/>
              </a:solidFill>
            </a:endParaRPr>
          </a:p>
          <a:p>
            <a:pPr marL="54165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rgbClr val="043833"/>
                </a:solidFill>
              </a:rPr>
              <a:t>Нужна агрегированная информация для HR, маркетинга или аналитики</a:t>
            </a:r>
            <a:r>
              <a:rPr lang="en-US" sz="3200" dirty="0" smtClean="0">
                <a:solidFill>
                  <a:srgbClr val="043833"/>
                </a:solidFill>
              </a:rPr>
              <a:t/>
            </a:r>
            <a:br>
              <a:rPr lang="en-US" sz="3200" dirty="0" smtClean="0">
                <a:solidFill>
                  <a:srgbClr val="043833"/>
                </a:solidFill>
              </a:rPr>
            </a:br>
            <a:endParaRPr lang="en-US" sz="3200" dirty="0" smtClean="0">
              <a:solidFill>
                <a:srgbClr val="043833"/>
              </a:solidFill>
            </a:endParaRPr>
          </a:p>
          <a:p>
            <a:pPr marL="54165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rgbClr val="043833"/>
                </a:solidFill>
              </a:rPr>
              <a:t>Экономия времени и точность данных</a:t>
            </a:r>
            <a:endParaRPr sz="3000" dirty="0">
              <a:solidFill>
                <a:srgbClr val="043833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7999" y="0"/>
                </a:lnTo>
                <a:lnTo>
                  <a:pt x="18287999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DDE6E7"/>
          </a:solidFill>
        </p:spPr>
        <p:txBody>
          <a:bodyPr wrap="square" lIns="0" tIns="0" rIns="0" bIns="0" rtlCol="0"/>
          <a:lstStyle/>
          <a:p>
            <a:r>
              <a:rPr lang="en-US" smtClean="0"/>
              <a:t>Telegram-</a:t>
            </a:r>
            <a:r>
              <a:rPr lang="ru-RU" smtClean="0"/>
              <a:t>бот для загрузки </a:t>
            </a:r>
            <a:r>
              <a:rPr lang="en-US" smtClean="0"/>
              <a:t>JSON/HTML</a:t>
            </a:r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0" y="2911924"/>
            <a:ext cx="10435590" cy="1192634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28575" marR="4528185">
              <a:lnSpc>
                <a:spcPts val="9290"/>
              </a:lnSpc>
            </a:pPr>
            <a:r>
              <a:rPr lang="ru-RU" sz="8800" dirty="0" smtClean="0">
                <a:solidFill>
                  <a:srgbClr val="043833"/>
                </a:solidFill>
              </a:rPr>
              <a:t>Решение</a:t>
            </a:r>
            <a:endParaRPr sz="8600" dirty="0">
              <a:solidFill>
                <a:srgbClr val="043833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566200" y="5334744"/>
            <a:ext cx="6722109" cy="4952365"/>
          </a:xfrm>
          <a:custGeom>
            <a:avLst/>
            <a:gdLst/>
            <a:ahLst/>
            <a:cxnLst/>
            <a:rect l="l" t="t" r="r" b="b"/>
            <a:pathLst>
              <a:path w="6722109" h="4952365">
                <a:moveTo>
                  <a:pt x="0" y="0"/>
                </a:moveTo>
                <a:lnTo>
                  <a:pt x="6721799" y="0"/>
                </a:lnTo>
                <a:lnTo>
                  <a:pt x="6721799" y="4952255"/>
                </a:lnTo>
                <a:lnTo>
                  <a:pt x="0" y="495225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566200" y="5334744"/>
            <a:ext cx="6721799" cy="49522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2500" y="5007606"/>
            <a:ext cx="7886700" cy="3183894"/>
          </a:xfrm>
          <a:custGeom>
            <a:avLst/>
            <a:gdLst/>
            <a:ahLst/>
            <a:cxnLst/>
            <a:rect l="l" t="t" r="r" b="b"/>
            <a:pathLst>
              <a:path w="2905125" h="760095">
                <a:moveTo>
                  <a:pt x="0" y="0"/>
                </a:moveTo>
                <a:lnTo>
                  <a:pt x="2904872" y="0"/>
                </a:lnTo>
                <a:lnTo>
                  <a:pt x="2904872" y="760049"/>
                </a:lnTo>
                <a:lnTo>
                  <a:pt x="0" y="7600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43833"/>
                </a:solidFill>
              </a:rPr>
              <a:t>Telegram-</a:t>
            </a:r>
            <a:r>
              <a:rPr lang="ru-RU" dirty="0" smtClean="0">
                <a:solidFill>
                  <a:srgbClr val="043833"/>
                </a:solidFill>
              </a:rPr>
              <a:t>бот для загрузки </a:t>
            </a:r>
            <a:r>
              <a:rPr lang="en-US" dirty="0" smtClean="0">
                <a:solidFill>
                  <a:srgbClr val="043833"/>
                </a:solidFill>
              </a:rPr>
              <a:t>JSON/HTML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0438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43833"/>
                </a:solidFill>
              </a:rPr>
              <a:t>Автоматический сбор участников, упоминаний, каналов</a:t>
            </a:r>
            <a:endParaRPr lang="en-US" dirty="0" smtClean="0">
              <a:solidFill>
                <a:srgbClr val="0438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438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rgbClr val="043833"/>
                </a:solidFill>
              </a:rPr>
              <a:t>Текстовый вывод для небольших чатов, </a:t>
            </a:r>
            <a:r>
              <a:rPr lang="ru-RU" dirty="0" err="1" smtClean="0">
                <a:solidFill>
                  <a:srgbClr val="043833"/>
                </a:solidFill>
              </a:rPr>
              <a:t>Excel</a:t>
            </a:r>
            <a:r>
              <a:rPr lang="ru-RU" dirty="0" smtClean="0">
                <a:solidFill>
                  <a:srgbClr val="043833"/>
                </a:solidFill>
              </a:rPr>
              <a:t> для больших</a:t>
            </a:r>
            <a:endParaRPr dirty="0">
              <a:solidFill>
                <a:srgbClr val="0438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367212" y="2781300"/>
            <a:ext cx="8667750" cy="6505575"/>
          </a:xfrm>
          <a:custGeom>
            <a:avLst/>
            <a:gdLst/>
            <a:ahLst/>
            <a:cxnLst/>
            <a:rect l="l" t="t" r="r" b="b"/>
            <a:pathLst>
              <a:path w="8667750" h="6505575">
                <a:moveTo>
                  <a:pt x="0" y="0"/>
                </a:moveTo>
                <a:lnTo>
                  <a:pt x="8667749" y="0"/>
                </a:lnTo>
                <a:lnTo>
                  <a:pt x="8667749" y="6505574"/>
                </a:lnTo>
                <a:lnTo>
                  <a:pt x="0" y="65055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38600" y="3086100"/>
            <a:ext cx="8667749" cy="65055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57724" y="4381500"/>
            <a:ext cx="7429500" cy="295465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Вход: файлы </a:t>
            </a:r>
            <a:r>
              <a:rPr lang="en-US" sz="3200" dirty="0" smtClean="0">
                <a:solidFill>
                  <a:schemeClr val="bg1"/>
                </a:solidFill>
              </a:rPr>
              <a:t>JSON/HTML</a:t>
            </a: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 smtClean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err="1" smtClean="0">
                <a:solidFill>
                  <a:schemeClr val="bg1"/>
                </a:solidFill>
              </a:rPr>
              <a:t>Парсинг</a:t>
            </a:r>
            <a:r>
              <a:rPr lang="ru-RU" sz="3200" dirty="0" smtClean="0">
                <a:solidFill>
                  <a:schemeClr val="bg1"/>
                </a:solidFill>
              </a:rPr>
              <a:t> → Объединение →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ru-RU" sz="3200" dirty="0" smtClean="0">
                <a:solidFill>
                  <a:schemeClr val="bg1"/>
                </a:solidFill>
              </a:rPr>
              <a:t>Обогащение через </a:t>
            </a:r>
            <a:r>
              <a:rPr lang="ru-RU" sz="3200" dirty="0" err="1" smtClean="0">
                <a:solidFill>
                  <a:schemeClr val="bg1"/>
                </a:solidFill>
              </a:rPr>
              <a:t>Telethon</a:t>
            </a:r>
            <a:endParaRPr lang="en-US" sz="3200" dirty="0" smtClean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Вывод: текст или </a:t>
            </a:r>
            <a:r>
              <a:rPr lang="en-US" sz="3200" dirty="0" smtClean="0">
                <a:solidFill>
                  <a:schemeClr val="bg1"/>
                </a:solidFill>
              </a:rPr>
              <a:t>Excel</a:t>
            </a:r>
            <a:endParaRPr sz="3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" y="932524"/>
            <a:ext cx="15497175" cy="1115060"/>
          </a:xfrm>
          <a:custGeom>
            <a:avLst/>
            <a:gdLst/>
            <a:ahLst/>
            <a:cxnLst/>
            <a:rect l="l" t="t" r="r" b="b"/>
            <a:pathLst>
              <a:path w="15497175" h="1115060">
                <a:moveTo>
                  <a:pt x="0" y="0"/>
                </a:moveTo>
                <a:lnTo>
                  <a:pt x="15497099" y="0"/>
                </a:lnTo>
                <a:lnTo>
                  <a:pt x="15497099" y="1114499"/>
                </a:lnTo>
                <a:lnTo>
                  <a:pt x="0" y="11144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68375" y="1008327"/>
            <a:ext cx="16351250" cy="945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7290"/>
              </a:lnSpc>
            </a:pPr>
            <a:r>
              <a:rPr lang="ru-RU" sz="7200" dirty="0"/>
              <a:t>Архитектура</a:t>
            </a:r>
            <a:endParaRPr sz="6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316412" y="2705100"/>
            <a:ext cx="8667750" cy="7077075"/>
          </a:xfrm>
          <a:custGeom>
            <a:avLst/>
            <a:gdLst/>
            <a:ahLst/>
            <a:cxnLst/>
            <a:rect l="l" t="t" r="r" b="b"/>
            <a:pathLst>
              <a:path w="8667750" h="7077075">
                <a:moveTo>
                  <a:pt x="0" y="0"/>
                </a:moveTo>
                <a:lnTo>
                  <a:pt x="8667749" y="0"/>
                </a:lnTo>
                <a:lnTo>
                  <a:pt x="8667749" y="7077074"/>
                </a:lnTo>
                <a:lnTo>
                  <a:pt x="0" y="7077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14800" y="2933700"/>
            <a:ext cx="8667749" cy="7077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98986" y="3695700"/>
            <a:ext cx="7699375" cy="393954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err="1" smtClean="0">
                <a:solidFill>
                  <a:schemeClr val="bg1"/>
                </a:solidFill>
              </a:rPr>
              <a:t>Парсинг</a:t>
            </a:r>
            <a:r>
              <a:rPr lang="ru-RU" sz="3200" dirty="0" smtClean="0">
                <a:solidFill>
                  <a:schemeClr val="bg1"/>
                </a:solidFill>
              </a:rPr>
              <a:t> JSON → участников и упоминания</a:t>
            </a:r>
            <a:endParaRPr lang="en-US" sz="3200" dirty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err="1" smtClean="0">
                <a:solidFill>
                  <a:schemeClr val="bg1"/>
                </a:solidFill>
              </a:rPr>
              <a:t>Парсинг</a:t>
            </a:r>
            <a:r>
              <a:rPr lang="ru-RU" sz="3200" dirty="0" smtClean="0">
                <a:solidFill>
                  <a:schemeClr val="bg1"/>
                </a:solidFill>
              </a:rPr>
              <a:t> HTML → участников, упоминания, каналы</a:t>
            </a:r>
            <a:endParaRPr lang="en-US" sz="3200" dirty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Merge &amp; normalize → </a:t>
            </a:r>
            <a:r>
              <a:rPr lang="ru-RU" sz="3200" dirty="0" smtClean="0">
                <a:solidFill>
                  <a:schemeClr val="bg1"/>
                </a:solidFill>
              </a:rPr>
              <a:t>уникальные пользователи</a:t>
            </a:r>
            <a:endParaRPr lang="en-US" sz="3200" dirty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Enrich → Telethon (bio, username, birthday, </a:t>
            </a:r>
            <a:r>
              <a:rPr lang="ru-RU" sz="3200" dirty="0" smtClean="0">
                <a:solidFill>
                  <a:schemeClr val="bg1"/>
                </a:solidFill>
              </a:rPr>
              <a:t>канал)</a:t>
            </a:r>
            <a:endParaRPr sz="3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500" y="932524"/>
            <a:ext cx="16469360" cy="110799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ct val="100000"/>
              </a:lnSpc>
            </a:pPr>
            <a:r>
              <a:rPr lang="ru-RU" sz="7200" dirty="0" smtClean="0">
                <a:solidFill>
                  <a:srgbClr val="043833"/>
                </a:solidFill>
              </a:rPr>
              <a:t>Логика обработки данных</a:t>
            </a:r>
            <a:endParaRPr sz="6750" dirty="0">
              <a:solidFill>
                <a:srgbClr val="043833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0" y="3400425"/>
            <a:ext cx="7699375" cy="1181862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485775" marR="14795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rgbClr val="043833"/>
                </a:solidFill>
              </a:rPr>
              <a:t>≤50 участников → текст в чат</a:t>
            </a:r>
          </a:p>
          <a:p>
            <a:pPr marL="485775" marR="147955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rgbClr val="043833"/>
                </a:solidFill>
              </a:rPr>
              <a:t>50 участников → </a:t>
            </a:r>
            <a:r>
              <a:rPr lang="ru-RU" sz="3200" dirty="0" err="1" smtClean="0">
                <a:solidFill>
                  <a:srgbClr val="043833"/>
                </a:solidFill>
              </a:rPr>
              <a:t>Excel</a:t>
            </a:r>
            <a:r>
              <a:rPr lang="ru-RU" sz="3200" dirty="0" smtClean="0">
                <a:solidFill>
                  <a:srgbClr val="043833"/>
                </a:solidFill>
              </a:rPr>
              <a:t> с колонками</a:t>
            </a:r>
            <a:r>
              <a:rPr lang="ru-RU" sz="3200" dirty="0" smtClean="0"/>
              <a:t>: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810750" y="3400425"/>
            <a:ext cx="7699375" cy="3447098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Дата экспорта</a:t>
            </a: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chemeClr val="bg1"/>
                </a:solidFill>
              </a:rPr>
              <a:t>Username</a:t>
            </a:r>
            <a:endParaRPr lang="ru-RU" sz="3200" dirty="0" smtClean="0">
              <a:solidFill>
                <a:schemeClr val="bg1"/>
              </a:solidFill>
            </a:endParaRP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Имя и фамилия</a:t>
            </a: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Описание</a:t>
            </a: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Дата рождения</a:t>
            </a: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Наличие канала</a:t>
            </a:r>
          </a:p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200" dirty="0" smtClean="0">
                <a:solidFill>
                  <a:schemeClr val="bg1"/>
                </a:solidFill>
              </a:rPr>
              <a:t>Ссылка на канал</a:t>
            </a:r>
            <a:endParaRPr sz="3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932524"/>
            <a:ext cx="16469360" cy="1115060"/>
          </a:xfrm>
          <a:custGeom>
            <a:avLst/>
            <a:gdLst/>
            <a:ahLst/>
            <a:cxnLst/>
            <a:rect l="l" t="t" r="r" b="b"/>
            <a:pathLst>
              <a:path w="16469360" h="1115060">
                <a:moveTo>
                  <a:pt x="0" y="0"/>
                </a:moveTo>
                <a:lnTo>
                  <a:pt x="16469099" y="0"/>
                </a:lnTo>
                <a:lnTo>
                  <a:pt x="16469099" y="1114499"/>
                </a:lnTo>
                <a:lnTo>
                  <a:pt x="0" y="11144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28575">
              <a:lnSpc>
                <a:spcPct val="100000"/>
              </a:lnSpc>
            </a:pPr>
            <a:r>
              <a:rPr lang="ru-RU" sz="7200" dirty="0" smtClean="0">
                <a:solidFill>
                  <a:srgbClr val="043833"/>
                </a:solidFill>
              </a:rPr>
              <a:t>Текстовый вывод </a:t>
            </a:r>
            <a:r>
              <a:rPr lang="ru-RU" sz="7200" dirty="0">
                <a:solidFill>
                  <a:srgbClr val="043833"/>
                </a:solidFill>
              </a:rPr>
              <a:t>и</a:t>
            </a:r>
            <a:r>
              <a:rPr lang="en-US" sz="7200" dirty="0" smtClean="0">
                <a:solidFill>
                  <a:srgbClr val="043833"/>
                </a:solidFill>
              </a:rPr>
              <a:t> Excel</a:t>
            </a:r>
            <a:endParaRPr lang="ru-RU" sz="7200" dirty="0">
              <a:solidFill>
                <a:srgbClr val="043833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9372599" y="2807092"/>
            <a:ext cx="8667750" cy="7077075"/>
          </a:xfrm>
          <a:custGeom>
            <a:avLst/>
            <a:gdLst/>
            <a:ahLst/>
            <a:cxnLst/>
            <a:rect l="l" t="t" r="r" b="b"/>
            <a:pathLst>
              <a:path w="8667750" h="7077075">
                <a:moveTo>
                  <a:pt x="0" y="0"/>
                </a:moveTo>
                <a:lnTo>
                  <a:pt x="8667749" y="0"/>
                </a:lnTo>
                <a:lnTo>
                  <a:pt x="8667749" y="7077074"/>
                </a:lnTo>
                <a:lnTo>
                  <a:pt x="0" y="7077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2588" y="2807092"/>
            <a:ext cx="8667749" cy="7077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52500" y="3259720"/>
            <a:ext cx="7699375" cy="4616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ct val="100000"/>
              </a:lnSpc>
            </a:pPr>
            <a:r>
              <a:rPr lang="ru-RU" sz="3000" dirty="0" smtClean="0">
                <a:solidFill>
                  <a:schemeClr val="bg1"/>
                </a:solidFill>
                <a:latin typeface="Calibri"/>
                <a:cs typeface="Calibri"/>
              </a:rPr>
              <a:t>Вывод текстом в чате</a:t>
            </a:r>
            <a:endParaRPr sz="3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500" y="932524"/>
            <a:ext cx="16469360" cy="110799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ct val="100000"/>
              </a:lnSpc>
            </a:pPr>
            <a:r>
              <a:rPr lang="ru-RU" sz="7200" dirty="0" smtClean="0">
                <a:solidFill>
                  <a:srgbClr val="043833"/>
                </a:solidFill>
              </a:rPr>
              <a:t>Примеры данных</a:t>
            </a:r>
            <a:endParaRPr sz="6750" dirty="0">
              <a:solidFill>
                <a:srgbClr val="043833"/>
              </a:solidFill>
              <a:latin typeface="Calibri"/>
              <a:cs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987" y="4000500"/>
            <a:ext cx="6076950" cy="5105400"/>
          </a:xfrm>
          <a:prstGeom prst="rect">
            <a:avLst/>
          </a:prstGeom>
        </p:spPr>
      </p:pic>
      <p:sp>
        <p:nvSpPr>
          <p:cNvPr id="9" name="object 7"/>
          <p:cNvSpPr txBox="1"/>
          <p:nvPr/>
        </p:nvSpPr>
        <p:spPr>
          <a:xfrm>
            <a:off x="9856787" y="3259719"/>
            <a:ext cx="7699375" cy="461665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ct val="100000"/>
              </a:lnSpc>
            </a:pPr>
            <a:r>
              <a:rPr lang="ru-RU" sz="3000" dirty="0" smtClean="0">
                <a:solidFill>
                  <a:schemeClr val="bg1"/>
                </a:solidFill>
                <a:latin typeface="Calibri"/>
                <a:cs typeface="Calibri"/>
              </a:rPr>
              <a:t>Вывод текстом в </a:t>
            </a:r>
            <a:r>
              <a:rPr lang="en-US" sz="3000" dirty="0" smtClean="0">
                <a:solidFill>
                  <a:schemeClr val="bg1"/>
                </a:solidFill>
                <a:latin typeface="Calibri"/>
                <a:cs typeface="Calibri"/>
              </a:rPr>
              <a:t>excel</a:t>
            </a:r>
            <a:endParaRPr sz="30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3408" y="4229100"/>
            <a:ext cx="8106131" cy="323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78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316412" y="2705100"/>
            <a:ext cx="8667750" cy="7077075"/>
          </a:xfrm>
          <a:custGeom>
            <a:avLst/>
            <a:gdLst/>
            <a:ahLst/>
            <a:cxnLst/>
            <a:rect l="l" t="t" r="r" b="b"/>
            <a:pathLst>
              <a:path w="8667750" h="7077075">
                <a:moveTo>
                  <a:pt x="0" y="0"/>
                </a:moveTo>
                <a:lnTo>
                  <a:pt x="8667749" y="0"/>
                </a:lnTo>
                <a:lnTo>
                  <a:pt x="8667749" y="7077074"/>
                </a:lnTo>
                <a:lnTo>
                  <a:pt x="0" y="70770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14800" y="2933700"/>
            <a:ext cx="8667749" cy="7077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98986" y="3695700"/>
            <a:ext cx="7699375" cy="3139321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485775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3000" dirty="0" smtClean="0">
                <a:solidFill>
                  <a:schemeClr val="bg1"/>
                </a:solidFill>
                <a:latin typeface="Calibri"/>
                <a:cs typeface="Calibri"/>
              </a:rPr>
              <a:t>Артем Исаенко </a:t>
            </a:r>
            <a:r>
              <a:rPr lang="ru-RU" sz="3200" dirty="0" smtClean="0">
                <a:solidFill>
                  <a:schemeClr val="bg1"/>
                </a:solidFill>
              </a:rPr>
              <a:t>– разработка </a:t>
            </a:r>
            <a:r>
              <a:rPr lang="ru-RU" sz="3200" dirty="0" err="1" smtClean="0">
                <a:solidFill>
                  <a:schemeClr val="bg1"/>
                </a:solidFill>
              </a:rPr>
              <a:t>парсеров</a:t>
            </a:r>
            <a:r>
              <a:rPr lang="ru-RU" sz="3200" dirty="0" smtClean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JSON/HTML</a:t>
            </a:r>
            <a:endParaRPr lang="ru-RU" sz="3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485775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cs typeface="Calibri"/>
              </a:rPr>
              <a:t>Артем Исаенко </a:t>
            </a:r>
            <a:r>
              <a:rPr lang="ru-RU" sz="2800" dirty="0" smtClean="0">
                <a:solidFill>
                  <a:schemeClr val="bg1"/>
                </a:solidFill>
              </a:rPr>
              <a:t>– интеграция </a:t>
            </a:r>
            <a:r>
              <a:rPr lang="en-US" sz="2800" dirty="0" smtClean="0">
                <a:solidFill>
                  <a:schemeClr val="bg1"/>
                </a:solidFill>
              </a:rPr>
              <a:t>Telethon, </a:t>
            </a:r>
            <a:r>
              <a:rPr lang="ru-RU" sz="2800" dirty="0" smtClean="0">
                <a:solidFill>
                  <a:schemeClr val="bg1"/>
                </a:solidFill>
              </a:rPr>
              <a:t>обогащение данных</a:t>
            </a:r>
          </a:p>
          <a:p>
            <a:pPr marL="485775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cs typeface="Calibri"/>
              </a:rPr>
              <a:t>Артем </a:t>
            </a:r>
            <a:r>
              <a:rPr lang="ru-RU" sz="2800" dirty="0">
                <a:solidFill>
                  <a:schemeClr val="bg1"/>
                </a:solidFill>
                <a:cs typeface="Calibri"/>
              </a:rPr>
              <a:t>Исаенко </a:t>
            </a:r>
            <a:r>
              <a:rPr lang="ru-RU" sz="2800" dirty="0" smtClean="0">
                <a:solidFill>
                  <a:schemeClr val="bg1"/>
                </a:solidFill>
              </a:rPr>
              <a:t>– генерация </a:t>
            </a:r>
            <a:r>
              <a:rPr lang="en-US" sz="2800" dirty="0" smtClean="0">
                <a:solidFill>
                  <a:schemeClr val="bg1"/>
                </a:solidFill>
              </a:rPr>
              <a:t>Excel, </a:t>
            </a:r>
            <a:r>
              <a:rPr lang="ru-RU" sz="2800" dirty="0" smtClean="0">
                <a:solidFill>
                  <a:schemeClr val="bg1"/>
                </a:solidFill>
              </a:rPr>
              <a:t>визуализация данных</a:t>
            </a:r>
          </a:p>
          <a:p>
            <a:pPr marL="485775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cs typeface="Calibri"/>
              </a:rPr>
              <a:t>Артем </a:t>
            </a:r>
            <a:r>
              <a:rPr lang="ru-RU" sz="2800" dirty="0">
                <a:solidFill>
                  <a:schemeClr val="bg1"/>
                </a:solidFill>
                <a:cs typeface="Calibri"/>
              </a:rPr>
              <a:t>Исаенко </a:t>
            </a:r>
            <a:r>
              <a:rPr lang="ru-RU" sz="2800" dirty="0" smtClean="0">
                <a:solidFill>
                  <a:schemeClr val="bg1"/>
                </a:solidFill>
              </a:rPr>
              <a:t>– документация и презентация</a:t>
            </a:r>
            <a:endParaRPr lang="ru-RU" sz="30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607" y="921186"/>
            <a:ext cx="16469360" cy="1107996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0" rIns="0" bIns="0" rtlCol="0">
            <a:spAutoFit/>
          </a:bodyPr>
          <a:lstStyle/>
          <a:p>
            <a:pPr marL="28575">
              <a:lnSpc>
                <a:spcPct val="100000"/>
              </a:lnSpc>
            </a:pPr>
            <a:r>
              <a:rPr lang="ru-RU" sz="7200" dirty="0" smtClean="0">
                <a:solidFill>
                  <a:srgbClr val="043833"/>
                </a:solidFill>
              </a:rPr>
              <a:t>Роль команды</a:t>
            </a:r>
            <a:endParaRPr sz="6750" dirty="0">
              <a:solidFill>
                <a:srgbClr val="043833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5155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68374" y="2760745"/>
            <a:ext cx="7413625" cy="5430755"/>
          </a:xfrm>
          <a:custGeom>
            <a:avLst/>
            <a:gdLst/>
            <a:ahLst/>
            <a:cxnLst/>
            <a:rect l="l" t="t" r="r" b="b"/>
            <a:pathLst>
              <a:path w="7124700" h="904875">
                <a:moveTo>
                  <a:pt x="0" y="0"/>
                </a:moveTo>
                <a:lnTo>
                  <a:pt x="7124699" y="0"/>
                </a:lnTo>
                <a:lnTo>
                  <a:pt x="7124699" y="904799"/>
                </a:lnTo>
                <a:lnTo>
                  <a:pt x="0" y="9047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0" y="2902529"/>
            <a:ext cx="9852025" cy="492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4000" dirty="0" smtClean="0">
                <a:solidFill>
                  <a:schemeClr val="bg1"/>
                </a:solidFill>
              </a:rPr>
              <a:t>Быстрая обработка чатов</a:t>
            </a: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4000" dirty="0">
              <a:solidFill>
                <a:schemeClr val="bg1"/>
              </a:solidFill>
              <a:latin typeface="Calibri"/>
              <a:cs typeface="Calibri"/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4000" dirty="0" smtClean="0">
                <a:solidFill>
                  <a:schemeClr val="bg1"/>
                </a:solidFill>
              </a:rPr>
              <a:t>Точность и полнота данных</a:t>
            </a: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4000" dirty="0" smtClean="0">
              <a:solidFill>
                <a:schemeClr val="bg1"/>
              </a:solidFill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4000" dirty="0" smtClean="0">
                <a:solidFill>
                  <a:schemeClr val="bg1"/>
                </a:solidFill>
              </a:rPr>
              <a:t>Возможность масштабирования на большие чаты</a:t>
            </a: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4000" dirty="0" smtClean="0">
              <a:solidFill>
                <a:schemeClr val="bg1"/>
              </a:solidFill>
            </a:endParaRPr>
          </a:p>
          <a:p>
            <a:pPr marL="584200" indent="-5715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4000" dirty="0" smtClean="0">
                <a:solidFill>
                  <a:schemeClr val="bg1"/>
                </a:solidFill>
              </a:rPr>
              <a:t>Поддержка аналитики и </a:t>
            </a:r>
            <a:r>
              <a:rPr lang="en-US" sz="4000" dirty="0" smtClean="0">
                <a:solidFill>
                  <a:schemeClr val="bg1"/>
                </a:solidFill>
              </a:rPr>
              <a:t>HR-</a:t>
            </a:r>
            <a:r>
              <a:rPr lang="ru-RU" sz="4000" dirty="0" smtClean="0">
                <a:solidFill>
                  <a:schemeClr val="bg1"/>
                </a:solidFill>
              </a:rPr>
              <a:t>задач</a:t>
            </a:r>
            <a:endParaRPr sz="375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2500" y="952500"/>
            <a:ext cx="10908030" cy="772160"/>
          </a:xfrm>
          <a:custGeom>
            <a:avLst/>
            <a:gdLst/>
            <a:ahLst/>
            <a:cxnLst/>
            <a:rect l="l" t="t" r="r" b="b"/>
            <a:pathLst>
              <a:path w="10908030" h="772160">
                <a:moveTo>
                  <a:pt x="0" y="0"/>
                </a:moveTo>
                <a:lnTo>
                  <a:pt x="10907699" y="0"/>
                </a:lnTo>
                <a:lnTo>
                  <a:pt x="10907699" y="771599"/>
                </a:lnTo>
                <a:lnTo>
                  <a:pt x="0" y="7715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3000" y="705741"/>
            <a:ext cx="16351250" cy="1466069"/>
          </a:xfrm>
          <a:prstGeom prst="rect">
            <a:avLst/>
          </a:prstGeom>
        </p:spPr>
        <p:txBody>
          <a:bodyPr vert="horz" wrap="square" lIns="0" tIns="14125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dirty="0" smtClean="0"/>
              <a:t>Вывод </a:t>
            </a:r>
            <a:r>
              <a:rPr lang="ru-RU" dirty="0"/>
              <a:t>и ценность</a:t>
            </a:r>
            <a:endParaRPr spc="1170" dirty="0"/>
          </a:p>
        </p:txBody>
      </p:sp>
      <p:sp>
        <p:nvSpPr>
          <p:cNvPr id="6" name="object 6"/>
          <p:cNvSpPr/>
          <p:nvPr/>
        </p:nvSpPr>
        <p:spPr>
          <a:xfrm>
            <a:off x="955618" y="9004824"/>
            <a:ext cx="3044190" cy="772160"/>
          </a:xfrm>
          <a:custGeom>
            <a:avLst/>
            <a:gdLst/>
            <a:ahLst/>
            <a:cxnLst/>
            <a:rect l="l" t="t" r="r" b="b"/>
            <a:pathLst>
              <a:path w="3044190" h="772159">
                <a:moveTo>
                  <a:pt x="0" y="0"/>
                </a:moveTo>
                <a:lnTo>
                  <a:pt x="3043901" y="0"/>
                </a:lnTo>
                <a:lnTo>
                  <a:pt x="3043901" y="771599"/>
                </a:lnTo>
                <a:lnTo>
                  <a:pt x="0" y="7715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32071" y="8983569"/>
            <a:ext cx="3043901" cy="77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219</Words>
  <Application>Microsoft Office PowerPoint</Application>
  <PresentationFormat>Произвольный</PresentationFormat>
  <Paragraphs>58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Хакатон MIFIDEV-3</vt:lpstr>
      <vt:lpstr>Цель проекта</vt:lpstr>
      <vt:lpstr>Проблема и бизнес-ценность</vt:lpstr>
      <vt:lpstr>Презентация PowerPoint</vt:lpstr>
      <vt:lpstr>Архитектура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 и ценность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Хакатон MIFIDEV-1 2025.pptx</dc:title>
  <cp:lastModifiedBy>Учетная запись Майкрософт</cp:lastModifiedBy>
  <cp:revision>19</cp:revision>
  <dcterms:created xsi:type="dcterms:W3CDTF">2025-12-21T16:23:57Z</dcterms:created>
  <dcterms:modified xsi:type="dcterms:W3CDTF">2025-12-21T14:23:06Z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LastSaved">
    <vt:filetime>2025-12-21T00:00:00Z</vt:filetime>
  </property>
</Properties>
</file>